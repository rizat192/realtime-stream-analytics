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1F3B57"/>
                </a:solidFill>
                <a:latin typeface="Calibri"/>
              </a:rPr>
              <a:t>Real-Time Monitoring, Time-Series Analysis and Stream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555F6B"/>
                </a:solidFill>
                <a:latin typeface="Calibri"/>
              </a:rPr>
              <a:t>Endterm project: API traffic stream, anomaly detection, real-time ML, distributed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555F6B"/>
                </a:solidFill>
                <a:latin typeface="Calibri"/>
              </a:rPr>
              <a:t>270,925 events, 4,320 one-minute windows, 30 labelled incidents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F6B"/>
                </a:solidFill>
                <a:latin typeface="Calibri"/>
              </a:rPr>
              <a:t>9 concurrent processes connected over TCP, no shared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3B57"/>
                </a:solidFill>
                <a:latin typeface="Calibri"/>
              </a:rPr>
              <a:t>Problem and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0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A stream of API request records carries timestamp, endpoint, region, latency, status and size.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Objective 1. Continuously updated visualization with more than one view.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Objective 2. Time-series analysis with rolling windows, resampling, trend and seasonality.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Objective 3. Anomaly detection that is implemented and evaluated against ground truth.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Objective 4. Real-time machine learning using only information available at prediction time.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Objective 5. Distributed stream processing with measured operational characteristics.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3B57"/>
                </a:solidFill>
                <a:latin typeface="Calibri"/>
              </a:rPr>
              <a:t>The data stream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0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71600"/>
          <a:ext cx="109728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34409">
                <a:tc>
                  <a:txBody>
                    <a:bodyPr/>
                    <a:lstStyle/>
                    <a:p>
                      <a:r>
                        <a:rPr sz="1400" b="1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</a:tr>
              <a:tr h="334409">
                <a:tc>
                  <a:txBody>
                    <a:bodyPr/>
                    <a:lstStyle/>
                    <a:p>
                      <a:r>
                        <a:rPr sz="1300"/>
                        <a:t>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270,925</a:t>
                      </a:r>
                    </a:p>
                  </a:txBody>
                  <a:tcPr/>
                </a:tc>
              </a:tr>
              <a:tr h="334409">
                <a:tc>
                  <a:txBody>
                    <a:bodyPr/>
                    <a:lstStyle/>
                    <a:p>
                      <a:r>
                        <a:rPr sz="130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4,320 one-minute tumbling windows over 3 days</a:t>
                      </a:r>
                    </a:p>
                  </a:txBody>
                  <a:tcPr/>
                </a:tc>
              </a:tr>
              <a:tr h="334409">
                <a:tc>
                  <a:txBody>
                    <a:bodyPr/>
                    <a:lstStyle/>
                    <a:p>
                      <a:r>
                        <a:rPr sz="1300"/>
                        <a:t>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6, each with its own rate, latency and error profile</a:t>
                      </a:r>
                    </a:p>
                  </a:txBody>
                  <a:tcPr/>
                </a:tc>
              </a:tr>
              <a:tr h="334409">
                <a:tc>
                  <a:txBody>
                    <a:bodyPr/>
                    <a:lstStyle/>
                    <a:p>
                      <a:r>
                        <a:rPr sz="1300"/>
                        <a:t>Mean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62.7 requests per minute</a:t>
                      </a:r>
                    </a:p>
                  </a:txBody>
                  <a:tcPr/>
                </a:tc>
              </a:tr>
              <a:tr h="334409">
                <a:tc>
                  <a:txBody>
                    <a:bodyPr/>
                    <a:lstStyle/>
                    <a:p>
                      <a:r>
                        <a:rPr sz="1300"/>
                        <a:t>Injected incidents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30 incidents, 468 labelled minutes (10.8%)</a:t>
                      </a:r>
                    </a:p>
                  </a:txBody>
                  <a:tcPr/>
                </a:tc>
              </a:tr>
              <a:tr h="334410">
                <a:tc>
                  <a:txBody>
                    <a:bodyPr/>
                    <a:lstStyle/>
                    <a:p>
                      <a:r>
                        <a:rPr sz="1300"/>
                        <a:t>Incident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latency spike, error burst, traffic drop, traffic surge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55F6B"/>
                </a:solidFill>
                <a:latin typeface="Calibri"/>
              </a:rPr>
              <a:t>The generator is seeded, so the dataset, the models and every number are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3B57"/>
                </a:solidFill>
                <a:latin typeface="Calibri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0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463040"/>
            <a:ext cx="8778240" cy="3670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3B57"/>
                </a:solidFill>
                <a:latin typeface="Calibri"/>
              </a:rPr>
              <a:t>Live dashboard, four 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0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3108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Volume against its 15 minute rolling mean.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Tail latency with alarms as they fire.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Error rate against predicted incident risk.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Throughput and per-stage backlog.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Redrawn by the sink process as scored windows arrive.</a:t>
            </a:r>
          </a:p>
        </p:txBody>
      </p:sp>
      <p:pic>
        <p:nvPicPr>
          <p:cNvPr id="5" name="Picture 4" descr="fi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371600"/>
            <a:ext cx="7863840" cy="44283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3B57"/>
                </a:solidFill>
                <a:latin typeface="Calibri"/>
              </a:rPr>
              <a:t>Time-series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0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3108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One-minute resampling of an irregular event stream.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Rolling windows of 15 and 60 minutes.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STL with a daily period of 1440 minutes.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Seasonal strength 0.90, trend strength 0.14.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Autocorrelation at one day 0.38.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F6B"/>
                </a:solidFill>
                <a:latin typeface="Calibri"/>
              </a:rPr>
              <a:t>Busiest hour 8:00, quietest hour 0:00.</a:t>
            </a:r>
          </a:p>
        </p:txBody>
      </p:sp>
      <p:pic>
        <p:nvPicPr>
          <p:cNvPr id="5" name="Picture 4" descr="fig_st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371600"/>
            <a:ext cx="7863840" cy="57191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3B57"/>
                </a:solidFill>
                <a:latin typeface="Calibri"/>
              </a:rPr>
              <a:t>Anomaly detection, evaluated on a held-out window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0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71600"/>
          <a:ext cx="1097280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38328">
                <a:tc>
                  <a:txBody>
                    <a:bodyPr/>
                    <a:lstStyle/>
                    <a:p>
                      <a:r>
                        <a:rPr sz="1400" b="1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ROC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Incidents caught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/>
                        <a:t>rolling robust z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8/8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/>
                        <a:t>isolation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5/8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/>
                        <a:t>streaming robust z, live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29/30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55F6B"/>
                </a:solidFill>
                <a:latin typeface="Calibri"/>
              </a:rPr>
              <a:t>Robust z score reacts to every incident, isolation forest raises fewer but cleaner alarms.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3B57"/>
                </a:solidFill>
                <a:latin typeface="Calibri"/>
              </a:rPr>
              <a:t>Detector behaviour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0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anomaly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463040"/>
            <a:ext cx="8778240" cy="5985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3B57"/>
                </a:solidFill>
                <a:latin typeface="Calibri"/>
              </a:rPr>
              <a:t>Real-time classification: is the next minute an incident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0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71600"/>
          <a:ext cx="1097280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38328">
                <a:tc>
                  <a:txBody>
                    <a:bodyPr/>
                    <a:lstStyle/>
                    <a:p>
                      <a:r>
                        <a:rPr sz="14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ROC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PR AUC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/>
                        <a:t>gradient boosting, default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0.83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/>
                        <a:t>gradient boosting, tuned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0.83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/>
                        <a:t>current detector forwarded as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0.57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55F6B"/>
                </a:solidFill>
                <a:latin typeface="Calibri"/>
              </a:rPr>
              <a:t>Time-ordered split, 2,970 train and 1,274 test windows, 68 features, all computed from closed windows.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3B57"/>
                </a:solidFill>
                <a:latin typeface="Calibri"/>
              </a:rPr>
              <a:t>Where the skill actually comes from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0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71600"/>
          <a:ext cx="1097280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41376">
                <a:tc>
                  <a:txBody>
                    <a:bodyPr/>
                    <a:lstStyle/>
                    <a:p>
                      <a:r>
                        <a:rPr sz="14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Onset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Recall at onset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Recall while ongoing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300"/>
                        <a:t>gradient boosting, tuned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0.83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300"/>
                        <a:t>current detector forwarded as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55F6B"/>
                </a:solidFill>
                <a:latin typeface="Calibri"/>
              </a:rPr>
              <a:t>Most of the F1 comes from incidents that are already visible. Predicting the first minute of an incident remains the hard part.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3B57"/>
                </a:solidFill>
                <a:latin typeface="Calibri"/>
              </a:rPr>
              <a:t>Distributed processing, measured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0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71600"/>
          <a:ext cx="1097280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33248">
                <a:tc>
                  <a:txBody>
                    <a:bodyPr/>
                    <a:lstStyle/>
                    <a:p>
                      <a:r>
                        <a:rPr sz="1400" b="1"/>
                        <a:t>Operational 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300"/>
                        <a:t>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 across 6 stages</a:t>
                      </a:r>
                    </a:p>
                  </a:txBody>
                  <a:tcPr/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300"/>
                        <a:t>Partitioning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 queues keyed by CRC32 of the endpoint</a:t>
                      </a:r>
                    </a:p>
                  </a:txBody>
                  <a:tcPr/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300"/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1,706 events per second mean, 4,472 peak</a:t>
                      </a:r>
                    </a:p>
                  </a:txBody>
                  <a:tcPr/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300"/>
                        <a:t>End-to-end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2233 ms mean, 4042 ms p95</a:t>
                      </a:r>
                    </a:p>
                  </a:txBody>
                  <a:tcPr/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300"/>
                        <a:t>Events and 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270,925 events, 4,319 windows completed</a:t>
                      </a:r>
                    </a:p>
                  </a:txBody>
                  <a:tcPr/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300"/>
                        <a:t>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41.8 mean, 104 peak at the anomaly stage</a:t>
                      </a:r>
                    </a:p>
                  </a:txBody>
                  <a:tcPr/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300"/>
                        <a:t>Late records dropped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 behind a 20 minute watermark</a:t>
                      </a:r>
                    </a:p>
                  </a:txBody>
                  <a:tcPr/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300"/>
                        <a:t>Replay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72.0 hours of traffic in 163 seconds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3B57"/>
                </a:solidFill>
                <a:latin typeface="Calibri"/>
              </a:rPr>
              <a:t>Operational metrics during the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0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op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463040"/>
            <a:ext cx="8778240" cy="57058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3B57"/>
                </a:solidFill>
                <a:latin typeface="Calibri"/>
              </a:rPr>
              <a:t>Engineering: finding the bottleneck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0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Per-stage traces showed the ML worker at about 30 ms per window, almost all of it the pandas feature build.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Its inbox grew without bound while every other stage sat idle.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The same feature row is now computed with NumPy on the trailing buffers, about 50 times faster.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Producers also drifted, so late batches reopened closed windows and minutes were scored twice. Closed windows now stay closed.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3B57"/>
                </a:solidFill>
                <a:latin typeface="Calibri"/>
              </a:rPr>
              <a:t>Limitations, stated honestly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0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The data is synthetic, so incident shapes are cleaner than production traffic.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The distributed layer runs on one machine: no broker failures, no rebalancing, no network faults.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Models are trained once and served: no drift detection, no scheduled retraining.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Supervised labels come from the generator and would not exist at prediction time in production.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The held-out window contains 8 incidents, which is a small sample for event-level claims.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F3B57"/>
                </a:solidFill>
                <a:latin typeface="Calibri"/>
              </a:rPr>
              <a:t>Conclusion and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0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All five required capabilities are implemented, measured and reproducible from one command.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pip install -r requirements.txt, then python run_all.py.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python scripts/run_stream.py replays 72.0 hours of traffic in about 163 seconds with the live dashboard.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F6B"/>
                </a:solidFill>
                <a:latin typeface="Calibri"/>
              </a:rPr>
              <a:t>Metrics are written to results/, figures to figures/, the report to report/.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